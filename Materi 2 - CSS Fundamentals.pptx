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a288f30-ab0f-4263-bf24-6f8c46028efc.fntdata" /><ns0:Relationship Id="rIdFont21" Type="http://schemas.openxmlformats.org/officeDocument/2006/relationships/font" Target="fonts/5b715695-e352-4b55-a249-d4857f39c6f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82337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96529"/>
            <a:ext cx="2000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91829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CSS Fundamentals &amp; Modern Layouting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0897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Panduan komprehensif styling, tata letak dua dimensi, dan prinsip pembuatan web responsif.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044154"/>
            <a:ext cx="3214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PEMROGRAMAN WEB · MATERI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176587"/>
            <a:ext cx="26384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62325" y="3176587"/>
            <a:ext cx="26384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76587"/>
            <a:ext cx="26384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20175" y="3267075"/>
            <a:ext cx="2638425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3176587"/>
            <a:ext cx="38100" cy="15144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2325" y="3176587"/>
            <a:ext cx="38100" cy="1514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176587"/>
            <a:ext cx="38100" cy="15144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20175" y="3267075"/>
            <a:ext cx="38100" cy="133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443287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44328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443287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53377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PETA MATERI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8 Pilar Utama Cascading Style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7861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Selector &amp; 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062412"/>
            <a:ext cx="2238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Targeting elemen dan hirarki aturan.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7861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Warna &amp; Tipografi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4062412"/>
            <a:ext cx="2238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Sistem warna dan keterbacaan teks.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7861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CSS Box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4062412"/>
            <a:ext cx="2238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Content, padding, border, dan margin.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387667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Modern Layouts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4152900"/>
            <a:ext cx="2678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Flexbox 1D &amp; Grid 2D responsif.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005137"/>
            <a:ext cx="35559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005137"/>
            <a:ext cx="35559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005137"/>
            <a:ext cx="35559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330993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22750" y="330993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07300" y="330993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KONSEP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Jenis-Jenis CSS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30993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Plus Jakarta Sans"/>
              </a:rPr>
              <a:t>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43337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Element Selector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57662"/>
            <a:ext cx="3041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Menargetkan seluruh elemen berdasarkan nama tag HTML.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9875" y="330993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.cls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750" y="3843337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Class Selector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4157662"/>
            <a:ext cx="3041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Menargetkan elemen dengan atribut class yang sama.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330993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E7490"/>
                </a:solidFill>
                <a:latin typeface="Plus Jakarta Sans"/>
              </a:rPr>
              <a:t>#id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3843337"/>
            <a:ext cx="37846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ID Selector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300" y="4157662"/>
            <a:ext cx="3041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Menargetkan satu elemen unik berdasarkan ID spesifik.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290887"/>
            <a:ext cx="35559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290887"/>
            <a:ext cx="35559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290887"/>
            <a:ext cx="35559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VISUAL STYLING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Format Warna dalam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57587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HEX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1001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Format heksadesimal 6 karakter paling umum.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557587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RGB &amp; RGBA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4650" y="391001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Nilai Red Green Blue dengan transparansi Alpha.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9200" y="3557587"/>
            <a:ext cx="38227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HSL &amp; HSLA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91001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Hue Saturation Lightness intuitif untuk desainer.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750790"/>
            <a:ext cx="5676900" cy="2289720"/>
          </a:xfrm>
          <a:prstGeom prst="roundRect">
            <a:avLst>
              <a:gd name="adj" fmla="val 49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981325"/>
            <a:ext cx="50673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3990975"/>
            <a:ext cx="50673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KETERBACAAN TEKS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Properti Tipografi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55590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Hirarki Tipografi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446115"/>
            <a:ext cx="59055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Judul Utama (H1)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926085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Plus Jakarta Sans"/>
              </a:rPr>
              <a:t>Subjudul Pendukung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278510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Teks paragraf utama menggunakan line-height proporsional agar mudah dibaca pengguna.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71825"/>
            <a:ext cx="60507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Font Family &amp;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29000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Mengatur jenis font dan ukuran elemen teks.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81475"/>
            <a:ext cx="60507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Font Weight &amp; Line Height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438650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Mengatur ketebalan huruf dan jarak antarbaris.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667000"/>
            <a:ext cx="5362575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524250"/>
            <a:ext cx="5362575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381500"/>
            <a:ext cx="5362575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2257425"/>
            <a:ext cx="5381625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66950"/>
            <a:ext cx="5362575" cy="321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STRUKTUR ELEMEN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Memahami CSS Box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19400"/>
            <a:ext cx="663832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38475"/>
            <a:ext cx="632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Area teks, gambar, atau media utama.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76650"/>
            <a:ext cx="663832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Padding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95725"/>
            <a:ext cx="632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Ruang transparan di dalam antara konten dan border.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33900"/>
            <a:ext cx="663832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Plus Jakarta Sans"/>
              </a:rPr>
              <a:t>Border &amp;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2975"/>
            <a:ext cx="632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Garis tepi elemen dan jarak luar antar-elemen.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233737"/>
            <a:ext cx="2633662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7562" y="3233737"/>
            <a:ext cx="2633662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81725" y="3233737"/>
            <a:ext cx="2633662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05887" y="3224212"/>
            <a:ext cx="2652712" cy="1419225"/>
          </a:xfrm>
          <a:prstGeom prst="roundRect">
            <a:avLst>
              <a:gd name="adj" fmla="val 805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ATURAN PRIORITAS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Urutan Spesifisitas 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692" y="3500437"/>
            <a:ext cx="2911078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854" y="3500437"/>
            <a:ext cx="2911078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3017" y="3500437"/>
            <a:ext cx="2911078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F46E5"/>
                </a:solidFill>
                <a:latin typeface="Plus Jakarta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4798" y="3490912"/>
            <a:ext cx="293489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D4ED8"/>
                </a:solidFill>
                <a:latin typeface="Plus Jakarta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921" y="3910012"/>
            <a:ext cx="29566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Element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317" y="4186237"/>
            <a:ext cx="28158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Spesifisitas terendah.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6083" y="3910012"/>
            <a:ext cx="29566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Class Selector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6479" y="4186237"/>
            <a:ext cx="28158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Memprioritaskan kelas.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0246" y="3910012"/>
            <a:ext cx="29566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 Selector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0642" y="4186237"/>
            <a:ext cx="28158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Memiliki bobot tinggi.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3933" y="3910012"/>
            <a:ext cx="29566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Inline 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329" y="4186237"/>
            <a:ext cx="28158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E40AF"/>
                </a:solidFill>
                <a:latin typeface="Plus Jakarta Sans"/>
              </a:rPr>
              <a:t>Prioritas tertinggi.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309937"/>
            <a:ext cx="35559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309937"/>
            <a:ext cx="35559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309937"/>
            <a:ext cx="35559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TATA LETAK 1D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CSS Flexbox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76637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Flex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89096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Menentukan arah sumbu utama (row atau column).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576637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Justify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4650" y="389096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Mengatur rataright, center, atau sebaran item pada main axis.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9200" y="3576637"/>
            <a:ext cx="38227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Align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890962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Menyejajarkan posisi item pada sumbu silang (cross axis).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400425"/>
            <a:ext cx="3555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400425"/>
            <a:ext cx="3555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400425"/>
            <a:ext cx="35559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TATA LETAK 2D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CSS Grid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667125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Grid Columns &amp;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81450"/>
            <a:ext cx="3778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Membentuk jalur matriks dua dimensi.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667125"/>
            <a:ext cx="39670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Fraction Unit (fr)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4650" y="3981450"/>
            <a:ext cx="3778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Membagi ruang kosong secara fleksibel.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9200" y="3667125"/>
            <a:ext cx="38227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Grid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981450"/>
            <a:ext cx="3778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Mengatur jarak konsisten antar sel grid.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014662"/>
            <a:ext cx="5410200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14662"/>
            <a:ext cx="5410200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3014662"/>
            <a:ext cx="5410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14662"/>
            <a:ext cx="5410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PERBANDINGAN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Flexbox vs CSS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57562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Flexbox (1D)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357562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 Grid (2D)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38562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Arah Layout: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Satu dimensi (baris ATAU kolom).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33837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Fokus Komponen: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Cocok untuk navigasi, tombol, &amp; card kecil.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29112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Prinsip: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Konten menentukan ukuran ruang.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738562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Arah Layout: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Dua dimensi (baris DAN kolom sekaligus).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033837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Fokus Halaman: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Ideal untuk struktur tata letak halaman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329112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Prinsip: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Layout menentukan posisi konten.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962275"/>
            <a:ext cx="536257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971925"/>
            <a:ext cx="536257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2352675"/>
            <a:ext cx="5381625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62200"/>
            <a:ext cx="5362575" cy="302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5334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ADAPTIF PERANGKAT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8105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Desain Web Responsif &amp; Media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152775"/>
            <a:ext cx="64383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Mobile-First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09950"/>
            <a:ext cx="613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Mendesain tampilan layar kecil terlebih dahulu.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162425"/>
            <a:ext cx="64383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Media Queries &amp; Breakpoints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19600"/>
            <a:ext cx="613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Aturan CSS berdasarkan lebar layar perangkat.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05337" y="4133850"/>
            <a:ext cx="2981325" cy="4286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31593" y="2295525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SELESAI · MATERI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007" y="2619375"/>
            <a:ext cx="1168598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Siap Membangun Tampilan Web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390900"/>
            <a:ext cx="714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Gunakan kombinasi Flexbox dan Grid untuk menciptakan tata letak yang bersih, terstruktur, dan responsif.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9371" y="4248150"/>
            <a:ext cx="31932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Sesi Tanya Jawab &amp; Praktik Coding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762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https://allthingsprogramming.com/wp-content/uploads/2025/04/css_box_model.webp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3226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allthingsprogramming.com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8477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https://media.geeksforgeeks.org/wp-content/uploads/20260109171547046619/responsive_web_design.webp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012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