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2000" cy="6858000" type="screen4x3"/>
  <ns0:notesSz cx="6858000" cy="9144000"/>
  <ns0:embeddedFontLst>
    <ns0:embeddedFont>
      <ns0:font typeface="Plus Jakarta Sans"/>
      <ns0:bold ns1:id="rIdFont27"/>
      <ns0:italic ns1:id="rIdFont28"/>
      <ns0:regular ns1:id="rIdFont29"/>
    </ns0:embeddedFont>
    <ns0:embeddedFont>
      <ns0:font typeface="Fira Code"/>
      <ns0:regular ns1:id="rIdFont3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Font27" Type="http://schemas.openxmlformats.org/officeDocument/2006/relationships/font" Target="fonts/14bd67fe-7f3f-4803-8048-6fbb4256217b.fntdata" /><ns0:Relationship Id="rIdFont28" Type="http://schemas.openxmlformats.org/officeDocument/2006/relationships/font" Target="fonts/38f4f7c2-d5e9-4b1b-9f00-1acc5d875bf7.fntdata" /><ns0:Relationship Id="rIdFont29" Type="http://schemas.openxmlformats.org/officeDocument/2006/relationships/font" Target="fonts/5ba59db7-2fa5-4999-81af-0d9071f15fbc.fntdata" /><ns0:Relationship Id="rIdFont30" Type="http://schemas.openxmlformats.org/officeDocument/2006/relationships/font" Target="fonts/55ead26a-7a5f-42da-bdd0-a7a93351b11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0"/>
            <a:ext cx="47625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370040"/>
            <a:ext cx="1200150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38350" y="4370040"/>
            <a:ext cx="1619250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522440"/>
            <a:ext cx="15240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5" y="4522440"/>
            <a:ext cx="17145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068859"/>
            <a:ext cx="297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DIPLOMA 3 — SEMESTER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21284"/>
            <a:ext cx="81010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Pemrograman Web:</a:t>
            </a:r>
            <a:r>
              <a:t>
</a:t>
            </a:r>
            <a:r>
              <a:rPr b="1" sz="3900" i="0" u="none">
                <a:solidFill>
                  <a:srgbClr val="38BDF8"/>
                </a:solidFill>
                <a:latin typeface="Plus Jakarta Sans"/>
              </a:rPr>
              <a:t>Konsep Dasar 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50915"/>
            <a:ext cx="952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Fondasi Struktur Halaman Web Modern, Elemen Semantik, dan Aksesibilitas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493865"/>
            <a:ext cx="1085850" cy="17145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Plus Jakarta Sans"/>
              </a:rPr>
              <a:t>Modul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8375" y="4493865"/>
            <a:ext cx="1524000" cy="17145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Plus Jakarta Sans"/>
              </a:rPr>
              <a:t>Praktek &amp; Teori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7475"/>
            <a:ext cx="3505200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57475"/>
            <a:ext cx="3505200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57475"/>
            <a:ext cx="3505200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718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718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718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086100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086100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825" y="30861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TARGET PERKULIAHAN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Capaian Pembelajaran Mata Kuliah (CPMK)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1950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Penguasaan Konsep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971925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Memahami fungsi utama, hirarki tag, dan struktur dasar standar HTML5.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61950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Keterampilan Teknik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971925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Menyusun struktur web semantik, form interaktif, dan tabel data standar.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61950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Praktik Terbaik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971925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Menerapkan standar aksesibilitas web (a11y) dan validasi markup resmi.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00750" y="2700337"/>
            <a:ext cx="558165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950" y="3024187"/>
            <a:ext cx="85725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16523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07073"/>
            <a:ext cx="1714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97623"/>
            <a:ext cx="17145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PENGENALAN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Pengertian &amp; Fungsi 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12665"/>
            <a:ext cx="5029200" cy="88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284C7"/>
                </a:solidFill>
                <a:latin typeface="Plus Jakarta Sans"/>
              </a:rPr>
              <a:t>HTML</a:t>
            </a:r>
            <a:r>
              <a:rPr b="1" sz="1650" i="0" u="none">
                <a:solidFill>
                  <a:srgbClr val="0F172A"/>
                </a:solidFill>
                <a:latin typeface="Plus Jakarta Sans"/>
              </a:rPr>
              <a:t> (HyperText Markup Language) adalah bahasa markah standar untuk membangun kerangka dokumen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3670" y="3976687"/>
            <a:ext cx="647580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Batu Bata Aplikasi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7856" y="4291012"/>
            <a:ext cx="6167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Tanpa HTML, peramban web tidak dapat menampilkan struktur teks maupun media secara teratur.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583185"/>
            <a:ext cx="4743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lus Jakarta Sans"/>
              </a:rPr>
              <a:t>Penyusun Kerangka: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Menentukan struktur konten seperti judul, paragraf, dan tombol.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173735"/>
            <a:ext cx="4743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lus Jakarta Sans"/>
              </a:rPr>
              <a:t>Penyedia Hyperlink: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Menghubungkan antar halaman dokumen melalui tautan.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4764285"/>
            <a:ext cx="4743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lus Jakarta Sans"/>
              </a:rPr>
              <a:t>Fondasi Peramban: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Dibaca dan diterjemahkan langsung oleh Web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2250"/>
            <a:ext cx="3505200" cy="2266950"/>
          </a:xfrm>
          <a:prstGeom prst="roundRect">
            <a:avLst>
              <a:gd name="adj" fmla="val 6722"/>
            </a:avLst>
          </a:prstGeom>
          <a:solidFill>
            <a:srgbClr val="FFFFFF"/>
          </a:solidFill>
          <a:ln w="57150">
            <a:solidFill>
              <a:srgbClr val="E34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762250"/>
            <a:ext cx="3505200" cy="57150"/>
          </a:xfrm>
          <a:prstGeom prst="rect">
            <a:avLst/>
          </a:prstGeom>
          <a:solidFill>
            <a:srgbClr val="E34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62250"/>
            <a:ext cx="3505200" cy="2266950"/>
          </a:xfrm>
          <a:prstGeom prst="roundRect">
            <a:avLst>
              <a:gd name="adj" fmla="val 6722"/>
            </a:avLst>
          </a:prstGeom>
          <a:solidFill>
            <a:srgbClr val="FFFFFF"/>
          </a:solidFill>
          <a:ln w="57150">
            <a:solidFill>
              <a:srgbClr val="15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2762250"/>
            <a:ext cx="3505200" cy="57150"/>
          </a:xfrm>
          <a:prstGeom prst="rect">
            <a:avLst/>
          </a:prstGeom>
          <a:solidFill>
            <a:srgbClr val="15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762250"/>
            <a:ext cx="3505200" cy="2266950"/>
          </a:xfrm>
          <a:prstGeom prst="roundRect">
            <a:avLst>
              <a:gd name="adj" fmla="val 6722"/>
            </a:avLst>
          </a:prstGeom>
          <a:solidFill>
            <a:srgbClr val="FFFFFF"/>
          </a:solidFill>
          <a:ln w="57150">
            <a:solidFill>
              <a:srgbClr val="F7D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762250"/>
            <a:ext cx="3505200" cy="57150"/>
          </a:xfrm>
          <a:prstGeom prst="rect">
            <a:avLst/>
          </a:prstGeom>
          <a:solidFill>
            <a:srgbClr val="F7D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4200"/>
            <a:ext cx="28575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24200"/>
            <a:ext cx="28575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24200"/>
            <a:ext cx="333375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EKOSISTEM FRONT-END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Trilogi Teknologi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7050"/>
            <a:ext cx="29908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E34F26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E34F26"/>
                </a:solidFill>
                <a:latin typeface="Plus Jakarta Sans"/>
              </a:rPr>
              <a:t>Struktur / Fondasi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067050"/>
            <a:ext cx="29908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1572B6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1572B6"/>
                </a:solidFill>
                <a:latin typeface="Plus Jakarta Sans"/>
              </a:rPr>
              <a:t>Tampilan / Estetika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067050"/>
            <a:ext cx="29908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0F172A"/>
                </a:solidFill>
                <a:latin typeface="Plus Jakarta Sans"/>
              </a:rPr>
              <a:t>Perilaku / Interaksi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86250"/>
            <a:ext cx="2990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Membangun susunan elemen dasar dan hierarki konten halaman.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657600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4286250"/>
            <a:ext cx="2990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Mengatur tata letak, warna, font, dan visualisasi responsif.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657600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4286250"/>
            <a:ext cx="2990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Memberikan dinamika, logika program, dan pemrosesan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9825"/>
            <a:ext cx="5562600" cy="2895600"/>
          </a:xfrm>
          <a:prstGeom prst="roundRect">
            <a:avLst>
              <a:gd name="adj" fmla="val 39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2984301"/>
            <a:ext cx="5105400" cy="1746646"/>
          </a:xfrm>
          <a:prstGeom prst="roundRect">
            <a:avLst>
              <a:gd name="adj" fmla="val 65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2984301"/>
            <a:ext cx="38100" cy="17466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SINTAKS STANDAR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Struktur Dasar 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00325"/>
            <a:ext cx="520065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t>
</a:t>
            </a:r>
            <a:r>
              <a:t>
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lang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"id"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&gt;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 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charset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"UTF-8"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&gt;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 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&lt;/div&gt;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Judul Halaman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 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Halo Dunia!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 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Paragraf pertama saya.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3700" y="3212901"/>
            <a:ext cx="5448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Aturan Utama Dokumen: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8475" y="3506271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0" y="3508176"/>
            <a:ext cx="5257800" cy="25330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Deklarasi Wajib: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Memulai dokumen dengan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375957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3761482"/>
            <a:ext cx="5257800" cy="25330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Elemen Akar: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Seluruh kode dibungkus dalam tag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4012882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0" y="4014787"/>
            <a:ext cx="4514850" cy="48756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Pemisahan Area: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Terbagi menjadi dua blok utama: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Head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dan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Body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ANATOMI KODE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Penjelasan Komponen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019300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Metadata &amp; Konfigurasi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333625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Berisi informasi yang tidak tampil langsung di layar browser, seperti judul tab, enkripsi karakter, dan tautan CSS.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2019300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Konten Visual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2333625"/>
            <a:ext cx="3048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Menampung seluruh elemen yang terlihat oleh pengguna seperti teks, gambar, tabel, formulir, dan tombol interaktif.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2019300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Informasi Peramban &amp; SEO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233362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Mengatur </a:t>
            </a:r>
            <a:r>
              <a:rPr b="0" sz="1200" i="1" u="none">
                <a:solidFill>
                  <a:srgbClr val="64748B"/>
                </a:solidFill>
                <a:latin typeface="Plus Jakarta Sans"/>
              </a:rPr>
              <a:t>charset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 UTF-8, responsivitas viewport seluler, dan kueri mesin pencari.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3212"/>
            <a:ext cx="10972800" cy="762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33812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833812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833812"/>
            <a:ext cx="3505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833812"/>
            <a:ext cx="38100" cy="10382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3833812"/>
            <a:ext cx="38100" cy="10382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3833812"/>
            <a:ext cx="38100" cy="1038225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KONSEP TATA BAHASA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Elemen, Tag, &amp; Atribut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66700" y="3071812"/>
            <a:ext cx="12725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ACC15"/>
                </a:solidFill>
                <a:latin typeface="Fira Code"/>
              </a:rPr>
              <a:t>href</a:t>
            </a:r>
            <a:r>
              <a:rPr b="0" sz="18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800" i="0" u="none">
                <a:solidFill>
                  <a:srgbClr val="4ADE80"/>
                </a:solidFill>
                <a:latin typeface="Fira Code"/>
              </a:rPr>
              <a:t>"https://google.com"</a:t>
            </a:r>
            <a:r>
              <a:rPr b="0" sz="1800" i="0" u="none">
                <a:solidFill>
                  <a:srgbClr val="38BDF8"/>
                </a:solidFill>
                <a:latin typeface="Fira Code"/>
              </a:rPr>
              <a:t>&gt;</a:t>
            </a:r>
            <a:r>
              <a:rPr b="0" sz="1800" i="0" u="none">
                <a:solidFill>
                  <a:srgbClr val="FFFFFF"/>
                </a:solidFill>
                <a:latin typeface="Fira Code"/>
              </a:rPr>
              <a:t>Kunjungi 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24312"/>
            <a:ext cx="40505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281487"/>
            <a:ext cx="3857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Inisiasi pembuka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 dan penutup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24312"/>
            <a:ext cx="40505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Atribut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81487"/>
            <a:ext cx="3857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Informasi tambahan berupa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href="..."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4024312"/>
            <a:ext cx="388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Elemen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4281487"/>
            <a:ext cx="3181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Keseluruhan unit dari tag pembuka hingga tag penutup.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5587"/>
            <a:ext cx="533400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18507"/>
            <a:ext cx="5334000" cy="2078235"/>
          </a:xfrm>
          <a:prstGeom prst="roundRect">
            <a:avLst>
              <a:gd name="adj" fmla="val 54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4625" y="4134742"/>
            <a:ext cx="4781550" cy="485775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STRUKTUR TEKS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Heading &amp; Paragraf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071812"/>
            <a:ext cx="62757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Hirarki Heading ( -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62337"/>
            <a:ext cx="5976937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Heading 1 (Utama)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833812"/>
            <a:ext cx="59769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Plus Jakarta Sans"/>
              </a:rPr>
              <a:t>Heading 2 (Sub-bab)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138612"/>
            <a:ext cx="5976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lus Jakarta Sans"/>
              </a:rPr>
              <a:t>Heading 3 (Materi)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471987"/>
            <a:ext cx="5976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Aturan: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Gunakan hanya 1 elemen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per halaman untuk hirarki SEO yang optimal.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094732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Paragraf () &amp; Line Break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485257"/>
            <a:ext cx="487680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Elemen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membungkus blok teks otomatis dengan spasi margin atas-bawah.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4287142"/>
            <a:ext cx="4572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293B"/>
                </a:solidFill>
                <a:latin typeface="Fira Code"/>
              </a:rPr>
              <a:t>Baris Pertama.Baris Kedua.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260032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262312"/>
            <a:ext cx="260032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62312"/>
            <a:ext cx="260032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62312"/>
            <a:ext cx="260032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29375" y="3614737"/>
            <a:ext cx="857250" cy="219075"/>
          </a:xfrm>
          <a:prstGeom prst="rect">
            <a:avLst/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STYLING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Pemformatan Teks Semantik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14737"/>
            <a:ext cx="2655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Teks Penting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71912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Memberikan penekanan tebal secara semantik.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614737"/>
            <a:ext cx="2655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1" u="none">
                <a:solidFill>
                  <a:srgbClr val="1E293B"/>
                </a:solidFill>
                <a:latin typeface="Plus Jakarta Sans"/>
              </a:rPr>
              <a:t>Teks Miring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871912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Memberikan penekanan intonasi miring.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614737"/>
            <a:ext cx="1143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Teks Sorot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871912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Memberikan latar kuning stabilo.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3614737"/>
            <a:ext cx="26550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11D48"/>
                </a:solidFill>
                <a:latin typeface="Fira Code"/>
              </a:rPr>
              <a:t>Kode Komputer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200" y="388143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Format monospace khusus kode.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1325"/>
            <a:ext cx="5562600" cy="1752600"/>
          </a:xfrm>
          <a:prstGeom prst="roundRect">
            <a:avLst>
              <a:gd name="adj" fmla="val 65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2886075"/>
            <a:ext cx="51054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0" y="3933825"/>
            <a:ext cx="51054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KONEKTIVITAS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Tautan Anchor () &amp; Navigasi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171825"/>
            <a:ext cx="52006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t>
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href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"https://e-learning.id"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target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"_blank"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&gt;Portal Campus</a:t>
            </a:r>
            <a:r>
              <a:t>
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href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"#profil"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&gt;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Ke Profil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124200"/>
            <a:ext cx="5476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Atribut 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href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343275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Menentukan tujuan URL (absolut atau relatif).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4171950"/>
            <a:ext cx="5476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Atribut 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target="_blank"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4391025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Membuka dokumen tautan di tab peramban baru.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3049041"/>
            <a:ext cx="5572125" cy="1617166"/>
          </a:xfrm>
          <a:prstGeom prst="roundRect">
            <a:avLst>
              <a:gd name="adj" fmla="val 70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90837"/>
            <a:ext cx="5095875" cy="1066800"/>
          </a:xfrm>
          <a:prstGeom prst="roundRect">
            <a:avLst>
              <a:gd name="adj" fmla="val 107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48137"/>
            <a:ext cx="5095875" cy="676275"/>
          </a:xfrm>
          <a:prstGeom prst="roundRect">
            <a:avLst>
              <a:gd name="adj" fmla="val 11267"/>
            </a:avLst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148137"/>
            <a:ext cx="38100" cy="676275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ELEMEN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Pengelolaan Gambar 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081337"/>
            <a:ext cx="47339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ACC15"/>
                </a:solidFill>
                <a:latin typeface="Fira Code"/>
              </a:rPr>
              <a:t>src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"foto.jpg"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  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alt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"Foto Profil Mahasiswa"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  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width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"300"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287166"/>
            <a:ext cx="5943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Atribut Wajib Gambar: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300537"/>
            <a:ext cx="48482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56404"/>
                </a:solidFill>
                <a:latin typeface="Plus Jakarta Sans"/>
              </a:rPr>
              <a:t>Void Element:</a:t>
            </a:r>
            <a:r>
              <a:rPr b="0" sz="1125" i="0" u="none">
                <a:solidFill>
                  <a:srgbClr val="856404"/>
                </a:solidFill>
                <a:latin typeface="Plus Jakarta Sans"/>
              </a:rPr>
              <a:t> Tag </a:t>
            </a:r>
            <a:r>
              <a:rPr b="0" sz="1125" i="0" u="none">
                <a:solidFill>
                  <a:srgbClr val="856404"/>
                </a:solidFill>
                <a:latin typeface="Plus Jakarta Sans"/>
              </a:rPr>
              <a:t> bersifat </a:t>
            </a:r>
            <a:r>
              <a:rPr b="0" sz="1125" i="1" u="none">
                <a:solidFill>
                  <a:srgbClr val="856404"/>
                </a:solidFill>
                <a:latin typeface="Plus Jakarta Sans"/>
              </a:rPr>
              <a:t>self-closing</a:t>
            </a:r>
            <a:r>
              <a:rPr b="0" sz="1125" i="0" u="none">
                <a:solidFill>
                  <a:srgbClr val="856404"/>
                </a:solidFill>
                <a:latin typeface="Plus Jakarta Sans"/>
              </a:rPr>
              <a:t> (tidak membutuhkan tag penutup).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175" y="3618636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620541"/>
            <a:ext cx="5753100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src (source):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Jalur file direktori lokal atau link URL.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175" y="393861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940522"/>
            <a:ext cx="5000625" cy="48756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alt (alternative text):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Deskripsi teks jika gambar gagal diisi / dibaca oleh pembaca layar (screen reader).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3237"/>
            <a:ext cx="533400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43237"/>
            <a:ext cx="533400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PENGELOMPOKAN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Daftar / List (, ,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19462"/>
            <a:ext cx="62757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Unordered List 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71887"/>
            <a:ext cx="5976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Daftar acak berbentuk simbol poin (bullet).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319462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Ordered List 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671887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Daftar terurut berbasis angka atau huruf.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9338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957637"/>
            <a:ext cx="5738812" cy="21907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HTML5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41529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176712"/>
            <a:ext cx="5738812" cy="21907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933825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957637"/>
            <a:ext cx="5476875" cy="219075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Analisis Kebutuhan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152900"/>
            <a:ext cx="15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176712"/>
            <a:ext cx="5476875" cy="21907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Desain Wireframe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867025"/>
            <a:ext cx="5562600" cy="1981200"/>
          </a:xfrm>
          <a:prstGeom prst="roundRect">
            <a:avLst>
              <a:gd name="adj" fmla="val 576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09925"/>
            <a:ext cx="5105400" cy="129540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3209925"/>
          <a:ext cx="5105399" cy="1295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51384"/>
                <a:gridCol w="2381250"/>
                <a:gridCol w="1172765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NIM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Nilai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23001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Budi Santoso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23002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Siti Aminah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PENYAJIAN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Tabel HTML 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057525"/>
            <a:ext cx="52006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 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NIM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  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23001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t>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5625"/>
            <a:ext cx="5562600" cy="15240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3371850"/>
            <a:ext cx="510540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INPUT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Formulir HTML 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286125"/>
            <a:ext cx="52006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ACC15"/>
                </a:solidFill>
                <a:latin typeface="Fira Code"/>
              </a:rPr>
              <a:t>action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"/simpan"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method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"POST"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&gt;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Nama: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type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"text"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name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"nama"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&gt;</a:t>
            </a:r>
            <a:r>
              <a:t>
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   </a:t>
            </a:r>
            <a:r>
              <a:rPr b="0" sz="1200" i="0" u="none">
                <a:solidFill>
                  <a:srgbClr val="FACC15"/>
                </a:solidFill>
                <a:latin typeface="Fira Code"/>
              </a:rPr>
              <a:t>type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=</a:t>
            </a:r>
            <a:r>
              <a:rPr b="0" sz="1200" i="0" u="none">
                <a:solidFill>
                  <a:srgbClr val="4ADE80"/>
                </a:solidFill>
                <a:latin typeface="Fira Code"/>
              </a:rPr>
              <a:t>"submit"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&gt;</a:t>
            </a:r>
            <a:r>
              <a:rPr b="0" sz="1200" i="0" u="none">
                <a:solidFill>
                  <a:srgbClr val="F8FAFC"/>
                </a:solidFill>
                <a:latin typeface="Fira Code"/>
              </a:rPr>
              <a:t>Kirim</a:t>
            </a:r>
            <a:r>
              <a:t>
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25" y="3609975"/>
            <a:ext cx="5476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Tipe Input Utama: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905250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text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password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email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number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radio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checkbox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3737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233737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33737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33737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343376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7" y="343376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012" y="3433762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737" y="3433762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STANDAR MODERN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Elemen Semantik HTML5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590" y="4110037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Area kepala situs / logo.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5415" y="4110037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Menu navigasi utama.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6240" y="4110037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Konten mandiri / berita.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7065" y="4110037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Catatan kaki / hak cipta.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76350"/>
            <a:ext cx="10972800" cy="5124450"/>
          </a:xfrm>
          <a:prstGeom prst="roundRect">
            <a:avLst>
              <a:gd name="adj" fmla="val 223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428750"/>
            <a:ext cx="10668000" cy="22860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771650"/>
            <a:ext cx="10668000" cy="152400"/>
          </a:xfrm>
          <a:prstGeom prst="roundRect">
            <a:avLst>
              <a:gd name="adj" fmla="val 375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6019800"/>
            <a:ext cx="10668000" cy="2286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2038350"/>
            <a:ext cx="6902499" cy="386715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8799" y="2038350"/>
            <a:ext cx="3651200" cy="3867150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2025" y="2314575"/>
            <a:ext cx="6502449" cy="323850"/>
          </a:xfrm>
          <a:prstGeom prst="roundRect">
            <a:avLst>
              <a:gd name="adj" fmla="val 1176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VISUAL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Kerangka Halaman Semantik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418" y="2390775"/>
            <a:ext cx="79756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Plus Jakarta Sans"/>
              </a:rPr>
              <a:t>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1337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81337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81337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19462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319462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19462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KUALITAS KODE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Aksesibilitas (a11y) &amp; Praktik Terbaik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700462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Teks Alternatif (Alt 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95737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Selalu isi atribut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alt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 untuk pembaca layar pengguna disabilitas netra.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700462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Hindari Div-Soup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995737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Gunakan tag semantik dibanding terlalu banyak penumpukan tag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700462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Validasi W3C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995737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Uji validitas markup menggunakan layanan resmi W3C Markup Validator.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3269"/>
            <a:ext cx="5343525" cy="2068710"/>
          </a:xfrm>
          <a:prstGeom prst="roundRect">
            <a:avLst>
              <a:gd name="adj" fmla="val 55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3052762"/>
            <a:ext cx="5324475" cy="1609725"/>
          </a:xfrm>
          <a:prstGeom prst="roundRect">
            <a:avLst>
              <a:gd name="adj" fmla="val 71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37594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TUGAS INDIVIDU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Praktikum: Profil Mahasiswa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099494"/>
            <a:ext cx="6288285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Spesifikasi Tugas: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319462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Target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671887"/>
            <a:ext cx="566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ADE80"/>
                </a:solidFill>
                <a:latin typeface="Fira Code"/>
              </a:rPr>
              <a:t>index.html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4052887"/>
            <a:ext cx="4886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Simpan seluruh kode markup dalam satu file tunggal dan pastikan dapat dibuka pada browser lokal.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489067"/>
            <a:ext cx="857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490019"/>
            <a:ext cx="5750718" cy="28381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Gunakan tag semantik (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772882"/>
            <a:ext cx="857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773834"/>
            <a:ext cx="5750718" cy="28381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Tampilkan foto profil dengan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dan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alt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056697"/>
            <a:ext cx="857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057650"/>
            <a:ext cx="5750718" cy="283815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Buat daftar riwayat pendidikan (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340512"/>
            <a:ext cx="857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341465"/>
            <a:ext cx="5750718" cy="27429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Sediakan formulir kontak/pesan singkat.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9900"/>
            <a:ext cx="3530649" cy="1133475"/>
          </a:xfrm>
          <a:prstGeom prst="roundRect">
            <a:avLst>
              <a:gd name="adj" fmla="val 100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009900"/>
            <a:ext cx="3530649" cy="1133475"/>
          </a:xfrm>
          <a:prstGeom prst="roundRect">
            <a:avLst>
              <a:gd name="adj" fmla="val 100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09900"/>
            <a:ext cx="3530649" cy="1133475"/>
          </a:xfrm>
          <a:prstGeom prst="roundRect">
            <a:avLst>
              <a:gd name="adj" fmla="val 100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PENILAIAN &amp; 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Evaluasi &amp; Rubrik Penilaian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200400"/>
            <a:ext cx="3244899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49" y="3200400"/>
            <a:ext cx="3244899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2399" y="3200400"/>
            <a:ext cx="3244899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4524375"/>
            <a:ext cx="12954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CBD5E1"/>
                </a:solidFill>
                <a:latin typeface="Plus Jakarta Sans"/>
              </a:rPr>
              <a:t>Ada Pertanyaan Diskusi?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533775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Struktur &amp; Semantik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771900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Kesesuaian penggunaan tag HTML5 standar.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774" y="3533775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Kelengkapan Elemen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774" y="3771900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Formulir, gambar, tabel, dan daftar terisi presisi.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1924" y="3533775"/>
            <a:ext cx="3940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Aksesibilitas &amp; Kode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1924" y="3771900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Kerapian inden serta pengisian atribut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alt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7131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https://media.geeksforgeeks.org/wp-content/uploads/20251212123908665977/HTML5.webp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3012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www.geeksforgeeks.org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