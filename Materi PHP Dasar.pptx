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0"/>
      <ns0:regular ns1:id="rIdFont21"/>
    </ns0:embeddedFont>
    <ns0:embeddedFont>
      <ns0:font typeface="Fira Code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2eea8e3f-0af7-43a7-8d45-6d5edb4789f3.fntdata" /><ns0:Relationship Id="rIdFont21" Type="http://schemas.openxmlformats.org/officeDocument/2006/relationships/font" Target="fonts/8ac1f5f4-d66c-4047-bc30-3855208538d3.fntdata" /><ns0:Relationship Id="rIdFont22" Type="http://schemas.openxmlformats.org/officeDocument/2006/relationships/font" Target="fonts/affaf5e4-2db5-43d1-bc80-d424de7f9c5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898677"/>
            <a:ext cx="5715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54547"/>
            <a:ext cx="5715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2540347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Materi Dasar PHP: Dari Sintaks Hingga Keamanan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869977"/>
            <a:ext cx="6572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Panduan esensial pemrograman server-side meliputi variabel, kontrol alur, penanganan form, dan validasi keamanan.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800" y="1997422"/>
            <a:ext cx="2905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18CF8"/>
                </a:solidFill>
                <a:latin typeface="Plus Jakarta Sans"/>
              </a:rPr>
              <a:t>MODUL PEMBELAJARAN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5900" y="4822477"/>
            <a:ext cx="23693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Pemrograman Web Modern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0" y="2501503"/>
            <a:ext cx="5638800" cy="2864643"/>
          </a:xfrm>
          <a:prstGeom prst="roundRect">
            <a:avLst>
              <a:gd name="adj" fmla="val 532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52675"/>
            <a:ext cx="5029200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476625"/>
            <a:ext cx="5029200" cy="9144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581525"/>
            <a:ext cx="5029200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352675"/>
            <a:ext cx="38100" cy="933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476625"/>
            <a:ext cx="38100" cy="914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581525"/>
            <a:ext cx="38100" cy="9334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0" y="2806303"/>
            <a:ext cx="1905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01. FUNDAMENTAL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Variabel &amp; Deklarasi PHP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3111103"/>
            <a:ext cx="5124450" cy="1950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7DD3FC"/>
                </a:solidFill>
                <a:latin typeface="Fira Code"/>
              </a:rPr>
              <a:t> </a:t>
            </a:r>
            <a:r>
              <a:rPr b="0" sz="1200" i="0" u="none">
                <a:solidFill>
                  <a:srgbClr val="94A3B8"/>
                </a:solidFill>
                <a:latin typeface="Fira Code"/>
              </a:rPr>
              <a:t>// Deklarasi variabel</a:t>
            </a:r>
            <a:r>
              <a:rPr b="0" sz="1200" i="0" u="none">
                <a:solidFill>
                  <a:srgbClr val="7DD3FC"/>
                </a:solidFill>
                <a:latin typeface="Fira Code"/>
              </a:rPr>
              <a:t> </a:t>
            </a:r>
            <a:r>
              <a:rPr b="0" sz="1200" i="0" u="none">
                <a:solidFill>
                  <a:srgbClr val="F472B6"/>
                </a:solidFill>
                <a:latin typeface="Fira Code"/>
              </a:rPr>
              <a:t>$nama</a:t>
            </a:r>
            <a:r>
              <a:rPr b="0" sz="1200" i="0" u="none">
                <a:solidFill>
                  <a:srgbClr val="7DD3FC"/>
                </a:solidFill>
                <a:latin typeface="Fira Code"/>
              </a:rPr>
              <a:t> = </a:t>
            </a:r>
            <a:r>
              <a:rPr b="0" sz="1200" i="0" u="none">
                <a:solidFill>
                  <a:srgbClr val="A5F3FC"/>
                </a:solidFill>
                <a:latin typeface="Fira Code"/>
              </a:rPr>
              <a:t>"Budi Santoso"</a:t>
            </a:r>
            <a:r>
              <a:rPr b="0" sz="1200" i="0" u="none">
                <a:solidFill>
                  <a:srgbClr val="7DD3FC"/>
                </a:solidFill>
                <a:latin typeface="Fira Code"/>
              </a:rPr>
              <a:t>; </a:t>
            </a:r>
            <a:r>
              <a:rPr b="0" sz="1200" i="0" u="none">
                <a:solidFill>
                  <a:srgbClr val="F472B6"/>
                </a:solidFill>
                <a:latin typeface="Fira Code"/>
              </a:rPr>
              <a:t>$umur</a:t>
            </a:r>
            <a:r>
              <a:rPr b="0" sz="1200" i="0" u="none">
                <a:solidFill>
                  <a:srgbClr val="7DD3FC"/>
                </a:solidFill>
                <a:latin typeface="Fira Code"/>
              </a:rPr>
              <a:t> = </a:t>
            </a:r>
            <a:r>
              <a:rPr b="0" sz="1200" i="0" u="none">
                <a:solidFill>
                  <a:srgbClr val="FDE047"/>
                </a:solidFill>
                <a:latin typeface="Fira Code"/>
              </a:rPr>
              <a:t>20</a:t>
            </a:r>
            <a:r>
              <a:rPr b="0" sz="1200" i="0" u="none">
                <a:solidFill>
                  <a:srgbClr val="7DD3FC"/>
                </a:solidFill>
                <a:latin typeface="Fira Code"/>
              </a:rPr>
              <a:t>; </a:t>
            </a:r>
            <a:r>
              <a:rPr b="0" sz="1200" i="0" u="none">
                <a:solidFill>
                  <a:srgbClr val="F472B6"/>
                </a:solidFill>
                <a:latin typeface="Fira Code"/>
              </a:rPr>
              <a:t>$aktif</a:t>
            </a:r>
            <a:r>
              <a:rPr b="0" sz="1200" i="0" u="none">
                <a:solidFill>
                  <a:srgbClr val="7DD3FC"/>
                </a:solidFill>
                <a:latin typeface="Fira Code"/>
              </a:rPr>
              <a:t> = </a:t>
            </a:r>
            <a:r>
              <a:rPr b="0" sz="1200" i="0" u="none">
                <a:solidFill>
                  <a:srgbClr val="FDE047"/>
                </a:solidFill>
                <a:latin typeface="Fira Code"/>
              </a:rPr>
              <a:t>true</a:t>
            </a:r>
            <a:r>
              <a:rPr b="0" sz="1200" i="0" u="none">
                <a:solidFill>
                  <a:srgbClr val="7DD3FC"/>
                </a:solidFill>
                <a:latin typeface="Fira Code"/>
              </a:rPr>
              <a:t>; </a:t>
            </a:r>
            <a:r>
              <a:rPr b="0" sz="1200" i="0" u="none">
                <a:solidFill>
                  <a:srgbClr val="38BDF8"/>
                </a:solidFill>
                <a:latin typeface="Fira Code"/>
              </a:rPr>
              <a:t>echo</a:t>
            </a:r>
            <a:r>
              <a:rPr b="0" sz="1200" i="0" u="none">
                <a:solidFill>
                  <a:srgbClr val="7DD3FC"/>
                </a:solidFill>
                <a:latin typeface="Fira Code"/>
              </a:rPr>
              <a:t> </a:t>
            </a:r>
            <a:r>
              <a:rPr b="0" sz="1200" i="0" u="none">
                <a:solidFill>
                  <a:srgbClr val="A5F3FC"/>
                </a:solidFill>
                <a:latin typeface="Fira Code"/>
              </a:rPr>
              <a:t>"Nama: "</a:t>
            </a:r>
            <a:r>
              <a:rPr b="0" sz="1200" i="0" u="none">
                <a:solidFill>
                  <a:srgbClr val="7DD3FC"/>
                </a:solidFill>
                <a:latin typeface="Fira Code"/>
              </a:rPr>
              <a:t> . </a:t>
            </a:r>
            <a:r>
              <a:rPr b="0" sz="1200" i="0" u="none">
                <a:solidFill>
                  <a:srgbClr val="F472B6"/>
                </a:solidFill>
                <a:latin typeface="Fira Code"/>
              </a:rPr>
              <a:t>$nama</a:t>
            </a:r>
            <a:r>
              <a:rPr b="0" sz="1200" i="0" u="none">
                <a:solidFill>
                  <a:srgbClr val="7DD3FC"/>
                </a:solidFill>
                <a:latin typeface="Fira Code"/>
              </a:rPr>
              <a:t>; </a:t>
            </a:r>
            <a:r>
              <a:rPr b="0" sz="1200" i="0" u="none">
                <a:solidFill>
                  <a:srgbClr val="7DD3FC"/>
                </a:solidFill>
                <a:latin typeface="Fira Code"/>
              </a:rPr>
              <a:t>?&gt;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581275"/>
            <a:ext cx="59507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Awalan Tanda Dollar ($)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857500"/>
            <a:ext cx="566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Semua variabel PHP diawali simbol 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$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diikuti nama variabel.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705225"/>
            <a:ext cx="59507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Aturan Penamaan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981450"/>
            <a:ext cx="5667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Harus dimulai huruf/underscore, tidak boleh diawali angka.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810125"/>
            <a:ext cx="59507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Case-Sensitive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5086350"/>
            <a:ext cx="566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$nama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dan 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$NAMA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dianggap dua variabel berbeda.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8400" y="2806303"/>
            <a:ext cx="16073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4A3B8"/>
                </a:solidFill>
                <a:latin typeface="Plus Jakarta Sans"/>
              </a:rPr>
              <a:t>contoh_variabel.php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14525"/>
            <a:ext cx="3530649" cy="4000500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1914525"/>
            <a:ext cx="3530649" cy="4000500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1914525"/>
            <a:ext cx="3530649" cy="4000500"/>
          </a:xfrm>
          <a:prstGeom prst="roundRect">
            <a:avLst>
              <a:gd name="adj" fmla="val 323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6300" y="5210175"/>
            <a:ext cx="2997249" cy="438150"/>
          </a:xfrm>
          <a:prstGeom prst="roundRect">
            <a:avLst>
              <a:gd name="adj" fmla="val 1739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97449" y="5210175"/>
            <a:ext cx="2997249" cy="438150"/>
          </a:xfrm>
          <a:prstGeom prst="roundRect">
            <a:avLst>
              <a:gd name="adj" fmla="val 1739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18599" y="5210175"/>
            <a:ext cx="2997249" cy="438150"/>
          </a:xfrm>
          <a:prstGeom prst="roundRect">
            <a:avLst>
              <a:gd name="adj" fmla="val 1739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181225"/>
            <a:ext cx="23812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449" y="2181225"/>
            <a:ext cx="20002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99" y="2181225"/>
            <a:ext cx="2667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02. STRUKTUR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Tipe Data Utama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5324475"/>
            <a:ext cx="28638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"Hello" |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1749" y="5324475"/>
            <a:ext cx="28638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3.14 | true / 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2899" y="5324475"/>
            <a:ext cx="2863899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Plus Jakarta Sans"/>
              </a:rPr>
              <a:t>[1, 2, 3] | new User()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2600325"/>
            <a:ext cx="393389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String &amp; Integer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2914650"/>
            <a:ext cx="309249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Teks karakter dan angka bulat tanpa desimal.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7449" y="2600325"/>
            <a:ext cx="393389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Float &amp; Boolean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7449" y="2914650"/>
            <a:ext cx="3746562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Angka desimal dan nilai logika benar/salah.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8599" y="2600325"/>
            <a:ext cx="38734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Array &amp; Object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599" y="2914650"/>
            <a:ext cx="309249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Kumpulan banyak data atau instansiasi kelas.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66975"/>
            <a:ext cx="10972800" cy="600075"/>
          </a:xfrm>
          <a:prstGeom prst="roundRect">
            <a:avLst>
              <a:gd name="adj" fmla="val 190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219450"/>
            <a:ext cx="10972800" cy="600075"/>
          </a:xfrm>
          <a:prstGeom prst="roundRect">
            <a:avLst>
              <a:gd name="adj" fmla="val 190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71925"/>
            <a:ext cx="10972800" cy="600075"/>
          </a:xfrm>
          <a:prstGeom prst="roundRect">
            <a:avLst>
              <a:gd name="adj" fmla="val 190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724400"/>
            <a:ext cx="10972800" cy="600075"/>
          </a:xfrm>
          <a:prstGeom prst="roundRect">
            <a:avLst>
              <a:gd name="adj" fmla="val 190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03. OPERASI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Operator Utama PHP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657475"/>
            <a:ext cx="190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F46E5"/>
                </a:solidFill>
                <a:latin typeface="Plus Jakarta Sans"/>
              </a:rPr>
              <a:t>Aritmatika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900" y="2662237"/>
            <a:ext cx="95631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Pengolahan matematika dasar: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+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,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-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,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*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,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/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,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%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(Modulus).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409950"/>
            <a:ext cx="190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F46E5"/>
                </a:solidFill>
                <a:latin typeface="Plus Jakarta Sans"/>
              </a:rPr>
              <a:t>Perbandingan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8900" y="3414712"/>
            <a:ext cx="95631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Membandingkan nilai: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==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,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===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(Identik tipe),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!=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,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&gt;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,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&lt;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162425"/>
            <a:ext cx="190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F46E5"/>
                </a:solidFill>
                <a:latin typeface="Plus Jakarta Sans"/>
              </a:rPr>
              <a:t>Logika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8900" y="4167187"/>
            <a:ext cx="95631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Kombinasi kondisi logika: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&amp;&amp;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(AND),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||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(OR),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!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(NOT).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914900"/>
            <a:ext cx="190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F46E5"/>
                </a:solidFill>
                <a:latin typeface="Plus Jakarta Sans"/>
              </a:rPr>
              <a:t>Penggabung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8900" y="4919662"/>
            <a:ext cx="95631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Penggabung string (Concatenation): Menggunakan titik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.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atau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.=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45581"/>
            <a:ext cx="5353050" cy="2300287"/>
          </a:xfrm>
          <a:prstGeom prst="roundRect">
            <a:avLst>
              <a:gd name="adj" fmla="val 496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2745581"/>
            <a:ext cx="5353050" cy="2300287"/>
          </a:xfrm>
          <a:prstGeom prst="roundRect">
            <a:avLst>
              <a:gd name="adj" fmla="val 496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04. KONTROL ALUR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Percabangan (Conditionals)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012281"/>
            <a:ext cx="4914900" cy="1766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472B6"/>
                </a:solidFill>
                <a:latin typeface="Plus Jakarta Sans"/>
              </a:rPr>
              <a:t>$nilai</a:t>
            </a:r>
            <a:r>
              <a:rPr b="1" sz="1125" i="0" u="none">
                <a:solidFill>
                  <a:srgbClr val="E2E8F0"/>
                </a:solidFill>
                <a:latin typeface="Plus Jakarta Sans"/>
              </a:rPr>
              <a:t> = </a:t>
            </a:r>
            <a:r>
              <a:rPr b="1" sz="1125" i="0" u="none">
                <a:solidFill>
                  <a:srgbClr val="FDE047"/>
                </a:solidFill>
                <a:latin typeface="Plus Jakarta Sans"/>
              </a:rPr>
              <a:t>80</a:t>
            </a:r>
            <a:r>
              <a:rPr b="1" sz="1125" i="0" u="none">
                <a:solidFill>
                  <a:srgbClr val="E2E8F0"/>
                </a:solidFill>
                <a:latin typeface="Plus Jakarta Sans"/>
              </a:rPr>
              <a:t>; </a:t>
            </a:r>
            <a:r>
              <a:rPr b="1" sz="1125" i="0" u="none">
                <a:solidFill>
                  <a:srgbClr val="38BDF8"/>
                </a:solidFill>
                <a:latin typeface="Plus Jakarta Sans"/>
              </a:rPr>
              <a:t>if</a:t>
            </a:r>
            <a:r>
              <a:rPr b="1" sz="1125" i="0" u="none">
                <a:solidFill>
                  <a:srgbClr val="E2E8F0"/>
                </a:solidFill>
                <a:latin typeface="Plus Jakarta Sans"/>
              </a:rPr>
              <a:t> (</a:t>
            </a:r>
            <a:r>
              <a:rPr b="1" sz="1125" i="0" u="none">
                <a:solidFill>
                  <a:srgbClr val="F472B6"/>
                </a:solidFill>
                <a:latin typeface="Plus Jakarta Sans"/>
              </a:rPr>
              <a:t>$nilai</a:t>
            </a:r>
            <a:r>
              <a:rPr b="1" sz="1125" i="0" u="none">
                <a:solidFill>
                  <a:srgbClr val="E2E8F0"/>
                </a:solidFill>
                <a:latin typeface="Plus Jakarta Sans"/>
              </a:rPr>
              <a:t> &gt;= </a:t>
            </a:r>
            <a:r>
              <a:rPr b="1" sz="1125" i="0" u="none">
                <a:solidFill>
                  <a:srgbClr val="FDE047"/>
                </a:solidFill>
                <a:latin typeface="Plus Jakarta Sans"/>
              </a:rPr>
              <a:t>75</a:t>
            </a:r>
            <a:r>
              <a:rPr b="1" sz="1125" i="0" u="none">
                <a:solidFill>
                  <a:srgbClr val="E2E8F0"/>
                </a:solidFill>
                <a:latin typeface="Plus Jakarta Sans"/>
              </a:rPr>
              <a:t>) { </a:t>
            </a:r>
            <a:r>
              <a:rPr b="1" sz="1125" i="0" u="none">
                <a:solidFill>
                  <a:srgbClr val="38BDF8"/>
                </a:solidFill>
                <a:latin typeface="Plus Jakarta Sans"/>
              </a:rPr>
              <a:t>echo</a:t>
            </a:r>
            <a:r>
              <a:rPr b="1" sz="1125" i="0" u="none">
                <a:solidFill>
                  <a:srgbClr val="E2E8F0"/>
                </a:solidFill>
                <a:latin typeface="Plus Jakarta Sans"/>
              </a:rPr>
              <a:t> </a:t>
            </a:r>
            <a:r>
              <a:rPr b="1" sz="1125" i="0" u="none">
                <a:solidFill>
                  <a:srgbClr val="A5F3FC"/>
                </a:solidFill>
                <a:latin typeface="Plus Jakarta Sans"/>
              </a:rPr>
              <a:t>"Lulus Evaluasi"</a:t>
            </a:r>
            <a:r>
              <a:rPr b="1" sz="1125" i="0" u="none">
                <a:solidFill>
                  <a:srgbClr val="E2E8F0"/>
                </a:solidFill>
                <a:latin typeface="Plus Jakarta Sans"/>
              </a:rPr>
              <a:t>; } </a:t>
            </a:r>
            <a:r>
              <a:rPr b="1" sz="1125" i="0" u="none">
                <a:solidFill>
                  <a:srgbClr val="38BDF8"/>
                </a:solidFill>
                <a:latin typeface="Plus Jakarta Sans"/>
              </a:rPr>
              <a:t>else</a:t>
            </a:r>
            <a:r>
              <a:rPr b="1" sz="1125" i="0" u="none">
                <a:solidFill>
                  <a:srgbClr val="E2E8F0"/>
                </a:solidFill>
                <a:latin typeface="Plus Jakarta Sans"/>
              </a:rPr>
              <a:t> { </a:t>
            </a:r>
            <a:r>
              <a:rPr b="1" sz="1125" i="0" u="none">
                <a:solidFill>
                  <a:srgbClr val="38BDF8"/>
                </a:solidFill>
                <a:latin typeface="Plus Jakarta Sans"/>
              </a:rPr>
              <a:t>echo</a:t>
            </a:r>
            <a:r>
              <a:rPr b="1" sz="1125" i="0" u="none">
                <a:solidFill>
                  <a:srgbClr val="E2E8F0"/>
                </a:solidFill>
                <a:latin typeface="Plus Jakarta Sans"/>
              </a:rPr>
              <a:t> </a:t>
            </a:r>
            <a:r>
              <a:rPr b="1" sz="1125" i="0" u="none">
                <a:solidFill>
                  <a:srgbClr val="A5F3FC"/>
                </a:solidFill>
                <a:latin typeface="Plus Jakarta Sans"/>
              </a:rPr>
              <a:t>"Perlu Remedial"</a:t>
            </a:r>
            <a:r>
              <a:rPr b="1" sz="1125" i="0" u="none">
                <a:solidFill>
                  <a:srgbClr val="E2E8F0"/>
                </a:solidFill>
                <a:latin typeface="Plus Jakarta Sans"/>
              </a:rPr>
              <a:t>;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6050" y="3012281"/>
            <a:ext cx="4914900" cy="1766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switch</a:t>
            </a:r>
            <a:r>
              <a:rPr b="1" sz="1125" i="0" u="none">
                <a:solidFill>
                  <a:srgbClr val="E2E8F0"/>
                </a:solidFill>
                <a:latin typeface="Plus Jakarta Sans"/>
              </a:rPr>
              <a:t> (</a:t>
            </a:r>
            <a:r>
              <a:rPr b="1" sz="1125" i="0" u="none">
                <a:solidFill>
                  <a:srgbClr val="F472B6"/>
                </a:solidFill>
                <a:latin typeface="Plus Jakarta Sans"/>
              </a:rPr>
              <a:t>$peran</a:t>
            </a:r>
            <a:r>
              <a:rPr b="1" sz="1125" i="0" u="none">
                <a:solidFill>
                  <a:srgbClr val="E2E8F0"/>
                </a:solidFill>
                <a:latin typeface="Plus Jakarta Sans"/>
              </a:rPr>
              <a:t>) { </a:t>
            </a:r>
            <a:r>
              <a:rPr b="1" sz="1125" i="0" u="none">
                <a:solidFill>
                  <a:srgbClr val="38BDF8"/>
                </a:solidFill>
                <a:latin typeface="Plus Jakarta Sans"/>
              </a:rPr>
              <a:t>case</a:t>
            </a:r>
            <a:r>
              <a:rPr b="1" sz="1125" i="0" u="none">
                <a:solidFill>
                  <a:srgbClr val="E2E8F0"/>
                </a:solidFill>
                <a:latin typeface="Plus Jakarta Sans"/>
              </a:rPr>
              <a:t> </a:t>
            </a:r>
            <a:r>
              <a:rPr b="1" sz="1125" i="0" u="none">
                <a:solidFill>
                  <a:srgbClr val="A5F3FC"/>
                </a:solidFill>
                <a:latin typeface="Plus Jakarta Sans"/>
              </a:rPr>
              <a:t>"admin"</a:t>
            </a:r>
            <a:r>
              <a:rPr b="1" sz="1125" i="0" u="none">
                <a:solidFill>
                  <a:srgbClr val="E2E8F0"/>
                </a:solidFill>
                <a:latin typeface="Plus Jakarta Sans"/>
              </a:rPr>
              <a:t>: </a:t>
            </a:r>
            <a:r>
              <a:rPr b="1" sz="1125" i="0" u="none">
                <a:solidFill>
                  <a:srgbClr val="38BDF8"/>
                </a:solidFill>
                <a:latin typeface="Plus Jakarta Sans"/>
              </a:rPr>
              <a:t>echo</a:t>
            </a:r>
            <a:r>
              <a:rPr b="1" sz="1125" i="0" u="none">
                <a:solidFill>
                  <a:srgbClr val="E2E8F0"/>
                </a:solidFill>
                <a:latin typeface="Plus Jakarta Sans"/>
              </a:rPr>
              <a:t> </a:t>
            </a:r>
            <a:r>
              <a:rPr b="1" sz="1125" i="0" u="none">
                <a:solidFill>
                  <a:srgbClr val="A5F3FC"/>
                </a:solidFill>
                <a:latin typeface="Plus Jakarta Sans"/>
              </a:rPr>
              <a:t>"Akses Penuh"</a:t>
            </a:r>
            <a:r>
              <a:rPr b="1" sz="1125" i="0" u="none">
                <a:solidFill>
                  <a:srgbClr val="E2E8F0"/>
                </a:solidFill>
                <a:latin typeface="Plus Jakarta Sans"/>
              </a:rPr>
              <a:t>; </a:t>
            </a:r>
            <a:r>
              <a:rPr b="1" sz="1125" i="0" u="none">
                <a:solidFill>
                  <a:srgbClr val="38BDF8"/>
                </a:solidFill>
                <a:latin typeface="Plus Jakarta Sans"/>
              </a:rPr>
              <a:t>break</a:t>
            </a:r>
            <a:r>
              <a:rPr b="1" sz="1125" i="0" u="none">
                <a:solidFill>
                  <a:srgbClr val="E2E8F0"/>
                </a:solidFill>
                <a:latin typeface="Plus Jakarta Sans"/>
              </a:rPr>
              <a:t>; </a:t>
            </a:r>
            <a:r>
              <a:rPr b="1" sz="1125" i="0" u="none">
                <a:solidFill>
                  <a:srgbClr val="38BDF8"/>
                </a:solidFill>
                <a:latin typeface="Plus Jakarta Sans"/>
              </a:rPr>
              <a:t>default</a:t>
            </a:r>
            <a:r>
              <a:rPr b="1" sz="1125" i="0" u="none">
                <a:solidFill>
                  <a:srgbClr val="E2E8F0"/>
                </a:solidFill>
                <a:latin typeface="Plus Jakarta Sans"/>
              </a:rPr>
              <a:t>: </a:t>
            </a:r>
            <a:r>
              <a:rPr b="1" sz="1125" i="0" u="none">
                <a:solidFill>
                  <a:srgbClr val="38BDF8"/>
                </a:solidFill>
                <a:latin typeface="Plus Jakarta Sans"/>
              </a:rPr>
              <a:t>echo</a:t>
            </a:r>
            <a:r>
              <a:rPr b="1" sz="1125" i="0" u="none">
                <a:solidFill>
                  <a:srgbClr val="E2E8F0"/>
                </a:solidFill>
                <a:latin typeface="Plus Jakarta Sans"/>
              </a:rPr>
              <a:t> </a:t>
            </a:r>
            <a:r>
              <a:rPr b="1" sz="1125" i="0" u="none">
                <a:solidFill>
                  <a:srgbClr val="A5F3FC"/>
                </a:solidFill>
                <a:latin typeface="Plus Jakarta Sans"/>
              </a:rPr>
              <a:t>"Akses Terbatas"</a:t>
            </a:r>
            <a:r>
              <a:rPr b="1" sz="1125" i="0" u="none">
                <a:solidFill>
                  <a:srgbClr val="E2E8F0"/>
                </a:solidFill>
                <a:latin typeface="Plus Jakarta Sans"/>
              </a:rPr>
              <a:t>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012281"/>
            <a:ext cx="6024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818CF8"/>
                </a:solidFill>
                <a:latin typeface="Plus Jakarta Sans"/>
              </a:rPr>
              <a:t>Struktur IF - 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278981"/>
            <a:ext cx="4914900" cy="1500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F472B6"/>
                </a:solidFill>
                <a:latin typeface="Fira Code"/>
              </a:rPr>
              <a:t>$nilai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 = </a:t>
            </a:r>
            <a:r>
              <a:rPr b="0" sz="1125" i="0" u="none">
                <a:solidFill>
                  <a:srgbClr val="FDE047"/>
                </a:solidFill>
                <a:latin typeface="Fira Code"/>
              </a:rPr>
              <a:t>80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; 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if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 (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$nilai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 &gt;= </a:t>
            </a:r>
            <a:r>
              <a:rPr b="0" sz="1125" i="0" u="none">
                <a:solidFill>
                  <a:srgbClr val="FDE047"/>
                </a:solidFill>
                <a:latin typeface="Fira Code"/>
              </a:rPr>
              <a:t>75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) { 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echo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 </a:t>
            </a:r>
            <a:r>
              <a:rPr b="0" sz="1125" i="0" u="none">
                <a:solidFill>
                  <a:srgbClr val="A5F3FC"/>
                </a:solidFill>
                <a:latin typeface="Fira Code"/>
              </a:rPr>
              <a:t>"Lulus Evaluasi"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; } 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else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 { 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echo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 </a:t>
            </a:r>
            <a:r>
              <a:rPr b="0" sz="1125" i="0" u="none">
                <a:solidFill>
                  <a:srgbClr val="A5F3FC"/>
                </a:solidFill>
                <a:latin typeface="Fira Code"/>
              </a:rPr>
              <a:t>"Perlu Remedial"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;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6050" y="3012281"/>
            <a:ext cx="56959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818CF8"/>
                </a:solidFill>
                <a:latin typeface="Plus Jakarta Sans"/>
              </a:rPr>
              <a:t>Struktur SWITCH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6050" y="3278981"/>
            <a:ext cx="4914900" cy="1500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8BDF8"/>
                </a:solidFill>
                <a:latin typeface="Fira Code"/>
              </a:rPr>
              <a:t>switch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 (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$peran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) { 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case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1125" i="0" u="none">
                <a:solidFill>
                  <a:srgbClr val="A5F3FC"/>
                </a:solidFill>
                <a:latin typeface="Fira Code"/>
              </a:rPr>
              <a:t>"admin"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: 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echo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1125" i="0" u="none">
                <a:solidFill>
                  <a:srgbClr val="A5F3FC"/>
                </a:solidFill>
                <a:latin typeface="Fira Code"/>
              </a:rPr>
              <a:t>"Akses Penuh"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; 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break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; 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default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: 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echo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1125" i="0" u="none">
                <a:solidFill>
                  <a:srgbClr val="A5F3FC"/>
                </a:solidFill>
                <a:latin typeface="Fira Code"/>
              </a:rPr>
              <a:t>"Akses Terbatas"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;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66850"/>
            <a:ext cx="3530649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1552575"/>
            <a:ext cx="3530649" cy="123825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1552575"/>
            <a:ext cx="3530649" cy="123825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05. ITERASI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Perulangan (Loops)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924050"/>
            <a:ext cx="3168699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F46E5"/>
                </a:solidFill>
                <a:latin typeface="Plus Jakarta Sans"/>
              </a:rPr>
              <a:t>for($i=0; $i&lt;5; $i++)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9349" y="2009775"/>
            <a:ext cx="3168699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F46E5"/>
                </a:solidFill>
                <a:latin typeface="Plus Jakarta Sans"/>
              </a:rPr>
              <a:t>while($kondisi == true)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499" y="2009775"/>
            <a:ext cx="3168699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F46E5"/>
                </a:solidFill>
                <a:latin typeface="Plus Jakarta Sans"/>
              </a:rPr>
              <a:t>foreach($items as $item)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695450"/>
            <a:ext cx="403390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990725"/>
            <a:ext cx="316869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Digunakan saat jumlah iterasi sudah diketahui pasti.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9349" y="1781175"/>
            <a:ext cx="403390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WHILE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9349" y="2076450"/>
            <a:ext cx="3841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Berjalan selama kondisi bernilai true.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499" y="1781175"/>
            <a:ext cx="3911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FOREACH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499" y="2076450"/>
            <a:ext cx="3841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Khusus untuk mengiterasi setiap elemen Array.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81700" y="2828925"/>
            <a:ext cx="5600700" cy="2133600"/>
          </a:xfrm>
          <a:prstGeom prst="roundRect">
            <a:avLst>
              <a:gd name="adj" fmla="val 535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06. MODULARITAS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Fungsi &amp; Scope Variabel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8400" y="3095625"/>
            <a:ext cx="516255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8BDF8"/>
                </a:solidFill>
                <a:latin typeface="Plus Jakarta Sans"/>
              </a:rPr>
              <a:t>function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 </a:t>
            </a:r>
            <a:r>
              <a:rPr b="0" sz="1125" i="0" u="none">
                <a:solidFill>
                  <a:srgbClr val="F472B6"/>
                </a:solidFill>
                <a:latin typeface="Plus Jakarta Sans"/>
              </a:rPr>
              <a:t>hitungTotal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(</a:t>
            </a:r>
            <a:r>
              <a:rPr b="0" sz="1125" i="0" u="none">
                <a:solidFill>
                  <a:srgbClr val="F472B6"/>
                </a:solidFill>
                <a:latin typeface="Plus Jakarta Sans"/>
              </a:rPr>
              <a:t>$harga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, </a:t>
            </a:r>
            <a:r>
              <a:rPr b="0" sz="1125" i="0" u="none">
                <a:solidFill>
                  <a:srgbClr val="F472B6"/>
                </a:solidFill>
                <a:latin typeface="Plus Jakarta Sans"/>
              </a:rPr>
              <a:t>$jumlah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) { </a:t>
            </a:r>
            <a:r>
              <a:rPr b="0" sz="1125" i="0" u="none">
                <a:solidFill>
                  <a:srgbClr val="38BDF8"/>
                </a:solidFill>
                <a:latin typeface="Plus Jakarta Sans"/>
              </a:rPr>
              <a:t>return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 </a:t>
            </a:r>
            <a:r>
              <a:rPr b="0" sz="1125" i="0" u="none">
                <a:solidFill>
                  <a:srgbClr val="F472B6"/>
                </a:solidFill>
                <a:latin typeface="Plus Jakarta Sans"/>
              </a:rPr>
              <a:t>$harga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 * </a:t>
            </a:r>
            <a:r>
              <a:rPr b="0" sz="1125" i="0" u="none">
                <a:solidFill>
                  <a:srgbClr val="F472B6"/>
                </a:solidFill>
                <a:latin typeface="Plus Jakarta Sans"/>
              </a:rPr>
              <a:t>$jumlah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; } 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// Memanggil fungsi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 </a:t>
            </a:r>
            <a:r>
              <a:rPr b="0" sz="1125" i="0" u="none">
                <a:solidFill>
                  <a:srgbClr val="F472B6"/>
                </a:solidFill>
                <a:latin typeface="Plus Jakarta Sans"/>
              </a:rPr>
              <a:t>$total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 = hitungTotal(</a:t>
            </a:r>
            <a:r>
              <a:rPr b="0" sz="1125" i="0" u="none">
                <a:solidFill>
                  <a:srgbClr val="FDE047"/>
                </a:solidFill>
                <a:latin typeface="Plus Jakarta Sans"/>
              </a:rPr>
              <a:t>15000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, </a:t>
            </a:r>
            <a:r>
              <a:rPr b="0" sz="1125" i="0" u="none">
                <a:solidFill>
                  <a:srgbClr val="FDE047"/>
                </a:solidFill>
                <a:latin typeface="Plus Jakarta Sans"/>
              </a:rPr>
              <a:t>3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); </a:t>
            </a:r>
            <a:r>
              <a:rPr b="0" sz="1125" i="0" u="none">
                <a:solidFill>
                  <a:srgbClr val="38BDF8"/>
                </a:solidFill>
                <a:latin typeface="Plus Jakarta Sans"/>
              </a:rPr>
              <a:t>echo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 </a:t>
            </a:r>
            <a:r>
              <a:rPr b="0" sz="1125" i="0" u="none">
                <a:solidFill>
                  <a:srgbClr val="F472B6"/>
                </a:solidFill>
                <a:latin typeface="Plus Jakarta Sans"/>
              </a:rPr>
              <a:t>$total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; 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// Output: 45000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0" y="3095625"/>
            <a:ext cx="516255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8BDF8"/>
                </a:solidFill>
                <a:latin typeface="Fira Code"/>
              </a:rPr>
              <a:t>function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hitungTotal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(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$harga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, 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$jumlah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) { 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return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$harga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 * 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$jumlah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; } </a:t>
            </a:r>
            <a:r>
              <a:rPr b="0" sz="1125" i="0" u="none">
                <a:solidFill>
                  <a:srgbClr val="94A3B8"/>
                </a:solidFill>
                <a:latin typeface="Fira Code"/>
              </a:rPr>
              <a:t>// Memanggil fungsi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$total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 = hitungTotal(</a:t>
            </a:r>
            <a:r>
              <a:rPr b="0" sz="1125" i="0" u="none">
                <a:solidFill>
                  <a:srgbClr val="FDE047"/>
                </a:solidFill>
                <a:latin typeface="Fira Code"/>
              </a:rPr>
              <a:t>15000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, </a:t>
            </a:r>
            <a:r>
              <a:rPr b="0" sz="1125" i="0" u="none">
                <a:solidFill>
                  <a:srgbClr val="FDE047"/>
                </a:solidFill>
                <a:latin typeface="Fira Code"/>
              </a:rPr>
              <a:t>3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); 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echo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 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$total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; </a:t>
            </a:r>
            <a:r>
              <a:rPr b="0" sz="1125" i="0" u="none">
                <a:solidFill>
                  <a:srgbClr val="94A3B8"/>
                </a:solidFill>
                <a:latin typeface="Fira Code"/>
              </a:rPr>
              <a:t>// Output: 45000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28962"/>
            <a:ext cx="51625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Deklarasi Keyword: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Dibuat dengan sintaks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function namaFungsi()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700462"/>
            <a:ext cx="51625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Parameter &amp; Return: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Menerima argumen input dan mengembalikan nilai via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return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262437"/>
            <a:ext cx="5162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Local Scope: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Variabel di dalam fungsi tidak bisa diakses dari luar secara langsung.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86087"/>
            <a:ext cx="5353050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2986087"/>
            <a:ext cx="5353050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19462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675" y="3319462"/>
            <a:ext cx="200025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07. PENANGANAN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Metode Pengiriman: GET vs 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719512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Data dikirim melalui URL parameter (query string). Sangat baik untuk pencarian &amp; filter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329112"/>
            <a:ext cx="29170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Terlihat di URL | Batas karakter terbatas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3719512"/>
            <a:ext cx="4819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Data dikirim di balik layar (HTTP body). Wajib digunakan untuk login, pendaftaran, &amp; data sensitif.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4329112"/>
            <a:ext cx="3690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A34A"/>
                </a:solidFill>
                <a:latin typeface="Plus Jakarta Sans"/>
              </a:rPr>
              <a:t>Tidak tampak di URL | Tanpa batasan ukuran ketat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6825" y="3300412"/>
            <a:ext cx="20002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Metode $_GET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300412"/>
            <a:ext cx="2200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Metode $_POST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81700" y="2828925"/>
            <a:ext cx="5600700" cy="2133600"/>
          </a:xfrm>
          <a:prstGeom prst="roundRect">
            <a:avLst>
              <a:gd name="adj" fmla="val 535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08. INTEGRITAS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Validasi Formulir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8400" y="3095625"/>
            <a:ext cx="516255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472B6"/>
                </a:solidFill>
                <a:latin typeface="Plus Jakarta Sans"/>
              </a:rPr>
              <a:t>$email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 = </a:t>
            </a:r>
            <a:r>
              <a:rPr b="0" sz="1125" i="0" u="none">
                <a:solidFill>
                  <a:srgbClr val="38BDF8"/>
                </a:solidFill>
                <a:latin typeface="Plus Jakarta Sans"/>
              </a:rPr>
              <a:t>trim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(</a:t>
            </a:r>
            <a:r>
              <a:rPr b="0" sz="1125" i="0" u="none">
                <a:solidFill>
                  <a:srgbClr val="F472B6"/>
                </a:solidFill>
                <a:latin typeface="Plus Jakarta Sans"/>
              </a:rPr>
              <a:t>$_POST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[</a:t>
            </a:r>
            <a:r>
              <a:rPr b="0" sz="1125" i="0" u="none">
                <a:solidFill>
                  <a:srgbClr val="A5F3FC"/>
                </a:solidFill>
                <a:latin typeface="Plus Jakarta Sans"/>
              </a:rPr>
              <a:t>'email'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]); </a:t>
            </a:r>
            <a:r>
              <a:rPr b="0" sz="1125" i="0" u="none">
                <a:solidFill>
                  <a:srgbClr val="38BDF8"/>
                </a:solidFill>
                <a:latin typeface="Plus Jakarta Sans"/>
              </a:rPr>
              <a:t>if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 (</a:t>
            </a:r>
            <a:r>
              <a:rPr b="0" sz="1125" i="0" u="none">
                <a:solidFill>
                  <a:srgbClr val="38BDF8"/>
                </a:solidFill>
                <a:latin typeface="Plus Jakarta Sans"/>
              </a:rPr>
              <a:t>filter_var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(</a:t>
            </a:r>
            <a:r>
              <a:rPr b="0" sz="1125" i="0" u="none">
                <a:solidFill>
                  <a:srgbClr val="F472B6"/>
                </a:solidFill>
                <a:latin typeface="Plus Jakarta Sans"/>
              </a:rPr>
              <a:t>$email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, FILTER_VALIDATE_EMAIL)) { </a:t>
            </a:r>
            <a:r>
              <a:rPr b="0" sz="1125" i="0" u="none">
                <a:solidFill>
                  <a:srgbClr val="38BDF8"/>
                </a:solidFill>
                <a:latin typeface="Plus Jakarta Sans"/>
              </a:rPr>
              <a:t>echo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 </a:t>
            </a:r>
            <a:r>
              <a:rPr b="0" sz="1125" i="0" u="none">
                <a:solidFill>
                  <a:srgbClr val="A5F3FC"/>
                </a:solidFill>
                <a:latin typeface="Plus Jakarta Sans"/>
              </a:rPr>
              <a:t>"Format email valid"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; } </a:t>
            </a:r>
            <a:r>
              <a:rPr b="0" sz="1125" i="0" u="none">
                <a:solidFill>
                  <a:srgbClr val="38BDF8"/>
                </a:solidFill>
                <a:latin typeface="Plus Jakarta Sans"/>
              </a:rPr>
              <a:t>else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 { </a:t>
            </a:r>
            <a:r>
              <a:rPr b="0" sz="1125" i="0" u="none">
                <a:solidFill>
                  <a:srgbClr val="38BDF8"/>
                </a:solidFill>
                <a:latin typeface="Plus Jakarta Sans"/>
              </a:rPr>
              <a:t>echo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 </a:t>
            </a:r>
            <a:r>
              <a:rPr b="0" sz="1125" i="0" u="none">
                <a:solidFill>
                  <a:srgbClr val="A5F3FC"/>
                </a:solidFill>
                <a:latin typeface="Plus Jakarta Sans"/>
              </a:rPr>
              <a:t>"Format email salah!"</a:t>
            </a:r>
            <a:r>
              <a:rPr b="0" sz="1125" i="0" u="none">
                <a:solidFill>
                  <a:srgbClr val="E2E8F0"/>
                </a:solidFill>
                <a:latin typeface="Plus Jakarta Sans"/>
              </a:rPr>
              <a:t>;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0" y="3095625"/>
            <a:ext cx="516255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F472B6"/>
                </a:solidFill>
                <a:latin typeface="Fira Code"/>
              </a:rPr>
              <a:t>$email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 = 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trim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(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$_POST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[</a:t>
            </a:r>
            <a:r>
              <a:rPr b="0" sz="1125" i="0" u="none">
                <a:solidFill>
                  <a:srgbClr val="A5F3FC"/>
                </a:solidFill>
                <a:latin typeface="Fira Code"/>
              </a:rPr>
              <a:t>'email'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]); 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if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 (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filter_var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(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$email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, FILTER_VALIDATE_EMAIL)) { 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echo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 </a:t>
            </a:r>
            <a:r>
              <a:rPr b="0" sz="1125" i="0" u="none">
                <a:solidFill>
                  <a:srgbClr val="A5F3FC"/>
                </a:solidFill>
                <a:latin typeface="Fira Code"/>
              </a:rPr>
              <a:t>"Format email valid"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; } 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else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 { </a:t>
            </a:r>
            <a:r>
              <a:rPr b="0" sz="1125" i="0" u="none">
                <a:solidFill>
                  <a:srgbClr val="38BDF8"/>
                </a:solidFill>
                <a:latin typeface="Fira Code"/>
              </a:rPr>
              <a:t>echo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 </a:t>
            </a:r>
            <a:r>
              <a:rPr b="0" sz="1125" i="0" u="none">
                <a:solidFill>
                  <a:srgbClr val="A5F3FC"/>
                </a:solidFill>
                <a:latin typeface="Fira Code"/>
              </a:rPr>
              <a:t>"Format email salah!"</a:t>
            </a:r>
            <a:r>
              <a:rPr b="0" sz="1125" i="0" u="none">
                <a:solidFill>
                  <a:srgbClr val="F472B6"/>
                </a:solidFill>
                <a:latin typeface="Fira Code"/>
              </a:rPr>
              <a:t>;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24200"/>
            <a:ext cx="51625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Pemeriksaan Input Kosong: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Menggunakan fungsi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empty()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atau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isset()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695700"/>
            <a:ext cx="51625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Pembersihan Spasi: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Menggunakan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trim()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untuk menghapus spasi ekstra.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257675"/>
            <a:ext cx="51625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Filter Bawaan PHP: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Menggunakan 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filter_var()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untuk validasi email/URL.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66850"/>
            <a:ext cx="3505200" cy="1838325"/>
          </a:xfrm>
          <a:prstGeom prst="roundRect">
            <a:avLst>
              <a:gd name="adj" fmla="val 6217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1471612"/>
            <a:ext cx="3505200" cy="1828800"/>
          </a:xfrm>
          <a:prstGeom prst="roundRect">
            <a:avLst>
              <a:gd name="adj" fmla="val 6250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571625"/>
            <a:ext cx="3505200" cy="1628775"/>
          </a:xfrm>
          <a:prstGeom prst="roundRect">
            <a:avLst>
              <a:gd name="adj" fmla="val 7017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743075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1747837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1847850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09.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Keamanan Dasar Web PHP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2124075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881337"/>
                </a:solidFill>
                <a:latin typeface="Plus Jakarta Sans"/>
              </a:rPr>
              <a:t>Mencegah XSS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2419350"/>
            <a:ext cx="3048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F1239"/>
                </a:solidFill>
                <a:latin typeface="Plus Jakarta Sans"/>
              </a:rPr>
              <a:t>Gunakan </a:t>
            </a:r>
            <a:r>
              <a:rPr b="0" sz="1050" i="0" u="none">
                <a:solidFill>
                  <a:srgbClr val="9F1239"/>
                </a:solidFill>
                <a:latin typeface="Plus Jakarta Sans"/>
              </a:rPr>
              <a:t>htmlspecialchars()</a:t>
            </a:r>
            <a:r>
              <a:rPr b="0" sz="1050" i="0" u="none">
                <a:solidFill>
                  <a:srgbClr val="9F1239"/>
                </a:solidFill>
                <a:latin typeface="Plus Jakarta Sans"/>
              </a:rPr>
              <a:t> sebelum mengoutputkan data user ke browser agar skrip tidak dieksekusi.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212883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881337"/>
                </a:solidFill>
                <a:latin typeface="Plus Jakarta Sans"/>
              </a:rPr>
              <a:t>Mencegah SQL 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2424112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F1239"/>
                </a:solidFill>
                <a:latin typeface="Plus Jakarta Sans"/>
              </a:rPr>
              <a:t>Gunakan </a:t>
            </a:r>
            <a:r>
              <a:rPr b="1" sz="1050" i="0" u="none">
                <a:solidFill>
                  <a:srgbClr val="9F1239"/>
                </a:solidFill>
                <a:latin typeface="Plus Jakarta Sans"/>
              </a:rPr>
              <a:t>Prepared Statements</a:t>
            </a:r>
            <a:r>
              <a:rPr b="0" sz="1050" i="0" u="none">
                <a:solidFill>
                  <a:srgbClr val="9F1239"/>
                </a:solidFill>
                <a:latin typeface="Plus Jakarta Sans"/>
              </a:rPr>
              <a:t> (PDO / MySQLi) dan hindari penggabungan string query secara langsung.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2228850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881337"/>
                </a:solidFill>
                <a:latin typeface="Plus Jakarta Sans"/>
              </a:rPr>
              <a:t>Mencegah CSRF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2524125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F1239"/>
                </a:solidFill>
                <a:latin typeface="Plus Jakarta Sans"/>
              </a:rPr>
              <a:t>Gunakan token rahasia acak (CSRF Token) pada setiap formulir transaksi bernilai penting.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28900"/>
            <a:ext cx="5334000" cy="74295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524250"/>
            <a:ext cx="5334000" cy="74295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419600"/>
            <a:ext cx="5334000" cy="74295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543175"/>
            <a:ext cx="5334000" cy="2667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Plus Jakarta Sans"/>
              </a:rPr>
              <a:t>10. RANGKUMAN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Praktik Terbaik Pengkodean PHP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819400"/>
            <a:ext cx="5048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1. Selalu lakukan Sanitasi Input: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Jangan pernah percaya input data dari luar/pengguna.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714750"/>
            <a:ext cx="5048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2. Gunakan Penamaan Konsisten: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Pilih camelCase atau snake_case untuk variabel dan fungsi.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610100"/>
            <a:ext cx="50482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3. Struktur Kode Rapi: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Pisahkan logika bisnis dengan tampilan HTML jika memungkinkan.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00637" y="4100512"/>
            <a:ext cx="1990725" cy="4476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14527" y="2538412"/>
            <a:ext cx="3562945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8FAFC"/>
                </a:solidFill>
                <a:latin typeface="Plus Jakarta Sans"/>
              </a:rPr>
              <a:t>Terima Kasih!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224212"/>
            <a:ext cx="714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Selamat melanjutkan ke tahap pembuatan aplikasi web interaktif dengan database PHP &amp; MySQL.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396" y="4214812"/>
            <a:ext cx="203120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Plus Jakarta Sans"/>
              </a:rPr>
              <a:t>Ada Pertanyaan Diskusi?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34155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10060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Plus Jakarta Sans"/>
              </a:rPr>
              <a:t>https://media.easy-peasy.ai/b3809ffe-b67d-4c71-8cc7-26a4bba632bb/25ad036a-f343-4dc8-aabd-9c3155648551_medium.webp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2024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easy-peasy.ai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