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  <ns0:embeddedFont>
      <ns0:font typeface="JetBrains Mono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2cc75573-53f3-46b8-a4b3-57d2472b60b5.fntdata" /><ns0:Relationship Id="rIdFont18" Type="http://schemas.openxmlformats.org/officeDocument/2006/relationships/font" Target="fonts/1f548504-6b40-4fab-af80-79cde289145c.fntdata" /><ns0:Relationship Id="rIdFont19" Type="http://schemas.openxmlformats.org/officeDocument/2006/relationships/font" Target="fonts/b9cf3f88-ec0f-4b41-847b-3aefa3147f4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006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49834"/>
            <a:ext cx="3178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Plus Jakarta Sans"/>
              </a:rPr>
              <a:t>PANDUAN KOMPREHENSIF PEMULA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97484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Konsep Fondasi Database, SQL, PHP &amp; Framework Laravel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89015"/>
            <a:ext cx="6762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Memahami struktur data relasional, sintaks DDL &amp; DML, relasi tabel, hingga integrasi backend modern.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3585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973585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73598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973585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11710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211710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311723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211710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STRUKTUR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Konsep Database, Tabel, Record &amp;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9271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8798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Wadah terstruktur pengorganisasian seluruh sekumpulan data digital.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59271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Tabel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88798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Struktur dua dimensi penyimpan data spesifik berbasis baris dan kolom.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692723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Record (Baris)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987998"/>
            <a:ext cx="22193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Satu baris entitas item tunggal yang tersimpan secara utuh.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59271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Field (Kolom)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88798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Atribut spesifik yang mendefinisikan tipe dan nama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9260"/>
            <a:ext cx="53340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26085"/>
            <a:ext cx="53340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325885"/>
            <a:ext cx="5334000" cy="304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935485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02310"/>
            <a:ext cx="219075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RELASIONAL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Primary Key, Foreign Key &amp; Relasi Tabel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897385"/>
            <a:ext cx="6375796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Primary Key (PK)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173610"/>
            <a:ext cx="4953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Identitas unik utama tiap baris record. Bernilai mutlak tidak boleh duplikat maupun kosong (NULL).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64210"/>
            <a:ext cx="6375796" cy="21907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Foreign Key (FK)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440435"/>
            <a:ext cx="4953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Field yang merujuk pada Primary Key tabel lain untuk menghubungkan antar baris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583185"/>
            <a:ext cx="4883794" cy="595312"/>
          </a:xfrm>
          <a:prstGeom prst="roundRect">
            <a:avLst>
              <a:gd name="adj" fmla="val 128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21994" y="3583185"/>
            <a:ext cx="5860405" cy="809625"/>
          </a:xfrm>
          <a:prstGeom prst="roundRect">
            <a:avLst>
              <a:gd name="adj" fmla="val 94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DATA DEFINITION LANGUAGE (DDL)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Membuat Database dan Tabel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06960"/>
            <a:ext cx="61047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1. Buat Database Kampus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773685"/>
            <a:ext cx="4598044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8BDF8"/>
                </a:solidFill>
                <a:latin typeface="JetBrains Mono"/>
              </a:rPr>
              <a:t>CREATE DATABASE</a:t>
            </a:r>
            <a:r>
              <a:rPr b="0" sz="1125" i="0" u="none">
                <a:solidFill>
                  <a:srgbClr val="F8FAFC"/>
                </a:solidFill>
                <a:latin typeface="JetBrains Mono"/>
              </a:rPr>
              <a:t> db_kampus; 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USE</a:t>
            </a:r>
            <a:r>
              <a:rPr b="0" sz="1125" i="0" u="none">
                <a:solidFill>
                  <a:srgbClr val="F8FAFC"/>
                </a:solidFill>
                <a:latin typeface="JetBrains Mono"/>
              </a:rPr>
              <a:t> db_kampus;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1994" y="3306960"/>
            <a:ext cx="64700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2. Buat Skema Tabel Mahasiswa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2494" y="3773685"/>
            <a:ext cx="557465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8BDF8"/>
                </a:solidFill>
                <a:latin typeface="JetBrains Mono"/>
              </a:rPr>
              <a:t>CREATE TABLE</a:t>
            </a:r>
            <a:r>
              <a:rPr b="0" sz="1125" i="0" u="none">
                <a:solidFill>
                  <a:srgbClr val="F8FAFC"/>
                </a:solidFill>
                <a:latin typeface="JetBrains Mono"/>
              </a:rPr>
              <a:t> mahasiswa ( nim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VARCHAR</a:t>
            </a:r>
            <a:r>
              <a:rPr b="0" sz="1125" i="0" u="none">
                <a:solidFill>
                  <a:srgbClr val="F8FAFC"/>
                </a:solidFill>
                <a:latin typeface="JetBrains Mono"/>
              </a:rPr>
              <a:t>(10) 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PRIMARY KEY</a:t>
            </a:r>
            <a:r>
              <a:rPr b="0" sz="1125" i="0" u="none">
                <a:solidFill>
                  <a:srgbClr val="F8FAFC"/>
                </a:solidFill>
                <a:latin typeface="JetBrains Mono"/>
              </a:rPr>
              <a:t>, nama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VARCHAR</a:t>
            </a:r>
            <a:r>
              <a:rPr b="0" sz="1125" i="0" u="none">
                <a:solidFill>
                  <a:srgbClr val="F8FAFC"/>
                </a:solidFill>
                <a:latin typeface="JetBrains Mono"/>
              </a:rPr>
              <a:t>(100)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NOT NULL</a:t>
            </a:r>
            <a:r>
              <a:rPr b="0" sz="1125" i="0" u="none">
                <a:solidFill>
                  <a:srgbClr val="F8FAFC"/>
                </a:solidFill>
                <a:latin typeface="JetBrains Mono"/>
              </a:rPr>
              <a:t>, jurusan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VARCHAR</a:t>
            </a:r>
            <a:r>
              <a:rPr b="0" sz="1125" i="0" u="none">
                <a:solidFill>
                  <a:srgbClr val="F8FAFC"/>
                </a:solidFill>
                <a:latin typeface="JetBrains Mono"/>
              </a:rPr>
              <a:t>(50), angkatan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INT</a:t>
            </a:r>
            <a:r>
              <a:rPr b="0" sz="1125" i="0" u="none">
                <a:solidFill>
                  <a:srgbClr val="F8FAFC"/>
                </a:solidFill>
                <a:latin typeface="JetBrains Mono"/>
              </a:rPr>
              <a:t> 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5454"/>
            <a:ext cx="54102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685454"/>
            <a:ext cx="54102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18954"/>
            <a:ext cx="5410200" cy="995362"/>
          </a:xfrm>
          <a:prstGeom prst="roundRect">
            <a:avLst>
              <a:gd name="adj" fmla="val 11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4018954"/>
            <a:ext cx="5410200" cy="995362"/>
          </a:xfrm>
          <a:prstGeom prst="roundRect">
            <a:avLst>
              <a:gd name="adj" fmla="val 11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1525" y="3104554"/>
            <a:ext cx="5086350" cy="600075"/>
          </a:xfrm>
          <a:prstGeom prst="roundRect">
            <a:avLst>
              <a:gd name="adj" fmla="val 1269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34125" y="3104554"/>
            <a:ext cx="5086350" cy="414337"/>
          </a:xfrm>
          <a:prstGeom prst="roundRect">
            <a:avLst>
              <a:gd name="adj" fmla="val 183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1525" y="4438054"/>
            <a:ext cx="5086350" cy="414337"/>
          </a:xfrm>
          <a:prstGeom prst="roundRect">
            <a:avLst>
              <a:gd name="adj" fmla="val 183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34125" y="4438054"/>
            <a:ext cx="5086350" cy="414337"/>
          </a:xfrm>
          <a:prstGeom prst="roundRect">
            <a:avLst>
              <a:gd name="adj" fmla="val 183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DATA MANIPULATION LANGUAGE (DML)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Sintaks SQL INSERT, SELECT, UPDATE &amp; DELETE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847379"/>
            <a:ext cx="6357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INSERT (Tambah 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218854"/>
            <a:ext cx="49530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INSERT INTO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mahasiswa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VALUES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(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'2301'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, 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'Budi'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, 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'Informatika'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, 2023);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4125" y="2847379"/>
            <a:ext cx="5857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SELECT (Baca 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218854"/>
            <a:ext cx="49530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SELECT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*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FROM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mahasiswa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WHERE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jurusan = 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'Informatika'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4180879"/>
            <a:ext cx="6357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Plus Jakarta Sans"/>
              </a:rPr>
              <a:t>UPDATE (Ubah Data)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552354"/>
            <a:ext cx="49530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UPDATE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mahasiswa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SET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angkatan = 2024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WHERE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nim = 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'2301'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4180879"/>
            <a:ext cx="5857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C2626"/>
                </a:solidFill>
                <a:latin typeface="Plus Jakarta Sans"/>
              </a:rPr>
              <a:t>DELETE (Hapus Data)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552354"/>
            <a:ext cx="49530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DELETE FROM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mahasiswa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WHERE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nim = 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'2301'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7860"/>
            <a:ext cx="4671417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49885"/>
            <a:ext cx="4671417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09617" y="3602235"/>
            <a:ext cx="6072782" cy="752475"/>
          </a:xfrm>
          <a:prstGeom prst="roundRect">
            <a:avLst>
              <a:gd name="adj" fmla="val 101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PENGGABUNGAN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Relasi Tabel Menggunakan SQL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9617" y="3345060"/>
            <a:ext cx="668238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Query JOIN Mahasiswa &amp; Dosen Wali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0117" y="3792735"/>
            <a:ext cx="578703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SELECT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m.nim, m.nama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AS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mhs, d.nama_dosen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FROM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mahasiswa m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INNER JOIN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dosen d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ON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m.id_dosen = d.id;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125985"/>
            <a:ext cx="524395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INNER 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326010"/>
            <a:ext cx="524395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Mengambil baris yang mencocokkan data di kedua tabel.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088010"/>
            <a:ext cx="524395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LEFT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288035"/>
            <a:ext cx="524395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Mengambil seluruh baris tabel kiri dan yang cocok di tabel kanan.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568773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66950" y="2568773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46042" y="2568773"/>
            <a:ext cx="3125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72028" y="2568773"/>
            <a:ext cx="1951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3165" y="2568773"/>
            <a:ext cx="1259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921198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66950" y="2921198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46042" y="2921198"/>
            <a:ext cx="3125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72028" y="2921198"/>
            <a:ext cx="1951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23165" y="2921198"/>
            <a:ext cx="1259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273623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66950" y="3273623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46042" y="3273623"/>
            <a:ext cx="3125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72028" y="3273623"/>
            <a:ext cx="1951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23165" y="3273623"/>
            <a:ext cx="1259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3626048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66950" y="3626048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46042" y="3626048"/>
            <a:ext cx="3125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72028" y="3626048"/>
            <a:ext cx="1951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23165" y="3626048"/>
            <a:ext cx="1259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978473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66950" y="3978473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46042" y="3978473"/>
            <a:ext cx="3125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72028" y="3978473"/>
            <a:ext cx="1951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23165" y="3978473"/>
            <a:ext cx="1259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4330898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66950" y="4330898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46042" y="4330898"/>
            <a:ext cx="3125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72028" y="4330898"/>
            <a:ext cx="1951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23165" y="4330898"/>
            <a:ext cx="1259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" y="4683323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66950" y="4683323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46042" y="4683323"/>
            <a:ext cx="3125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72028" y="4683323"/>
            <a:ext cx="1951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23165" y="4683323"/>
            <a:ext cx="1259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9600" y="5035748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66950" y="5035748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46042" y="5035748"/>
            <a:ext cx="3125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72028" y="5035748"/>
            <a:ext cx="1951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23165" y="5035748"/>
            <a:ext cx="1259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00" y="5388173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66950" y="5388173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46042" y="5388173"/>
            <a:ext cx="3125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72028" y="5388173"/>
            <a:ext cx="1951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323165" y="5388173"/>
            <a:ext cx="1259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9600" y="5740598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66950" y="5740598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246042" y="5740598"/>
            <a:ext cx="3125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72028" y="5740598"/>
            <a:ext cx="1951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23165" y="5740598"/>
            <a:ext cx="1259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609600" y="1868685"/>
          <a:ext cx="10972797" cy="38862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57350"/>
                <a:gridCol w="2979092"/>
                <a:gridCol w="3125985"/>
                <a:gridCol w="1951136"/>
                <a:gridCol w="1259234"/>
              </a:tblGrid>
              <a:tr h="35329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NIM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Nama Mahasiswa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Program Studi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Angkatan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IPK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532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230101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Ahmad Pratama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Teknik Informatika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2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230102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Siti Nurhaliza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Sistem Informasi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32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230103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Budi Santoso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Teknik Informatika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2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230104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Citra Dewi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 Science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3.72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32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230105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Eko Prasetyo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Sistem Informasi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2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230106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Farhan Rizky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Teknik Informatika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32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230107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Gita Gutawa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 Science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3.95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2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230108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Hendra Gunawan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Sistem Informasi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32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230109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Indah Permata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Teknik Informatika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30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230110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Joko Widodo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 Science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STUDI KASUS PRAKTIKUM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Database Kampus: 10 Record Data Mahasiswa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9529"/>
            <a:ext cx="5372100" cy="1420862"/>
          </a:xfrm>
          <a:prstGeom prst="roundRect">
            <a:avLst>
              <a:gd name="adj" fmla="val 8044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139529"/>
            <a:ext cx="5372100" cy="1420862"/>
          </a:xfrm>
          <a:prstGeom prst="roundRect">
            <a:avLst>
              <a:gd name="adj" fmla="val 8044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81975" y="3905250"/>
            <a:ext cx="1436637" cy="190500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415754"/>
            <a:ext cx="219075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415754"/>
            <a:ext cx="17145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PENGEMBANGAN WEB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Koneksi PHP-MySQL &amp; Integrasi Framework Laravel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77654"/>
            <a:ext cx="6119812" cy="21907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 Native PHP (PDO / mysqli)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3377654"/>
            <a:ext cx="574357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Plus Jakarta Sans"/>
              </a:rPr>
              <a:t> Laravel Eloquent 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3674834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672929"/>
            <a:ext cx="5905500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Koneksi ekplisit menggunakan string host, user, dan password.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3888105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3886200"/>
            <a:ext cx="5905500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Eksekusi string SQL langsung secara manual.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4101375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4099470"/>
            <a:ext cx="5905500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Rentan SQL Injection jika tidak mempersiapkan prepared statement.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3674834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9875" y="3672929"/>
            <a:ext cx="5572125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881337"/>
                </a:solidFill>
                <a:latin typeface="Plus Jakarta Sans"/>
              </a:rPr>
              <a:t>Mengubah tabel database menjadi objek Model PHP.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3675" y="3888105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9875" y="3886200"/>
            <a:ext cx="5572125" cy="22279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881337"/>
                </a:solidFill>
                <a:latin typeface="Plus Jakarta Sans"/>
              </a:rPr>
              <a:t>Tanpa menulis SQL rumit: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675" y="411090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4108995"/>
            <a:ext cx="5572125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881337"/>
                </a:solidFill>
                <a:latin typeface="Plus Jakarta Sans"/>
              </a:rPr>
              <a:t>Proteksi keamanan otomatis terhadap celah SQL Injection.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075" y="3924300"/>
            <a:ext cx="171959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881337"/>
                </a:solidFill>
                <a:latin typeface="monospace"/>
              </a:rPr>
              <a:t>Mahasiswa::all();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38750" y="2719387"/>
            <a:ext cx="171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0A5FA"/>
                </a:solidFill>
                <a:latin typeface="Plus Jakarta Sans"/>
              </a:rPr>
              <a:t>SELESAI &amp; DISKUSI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6685" y="2967037"/>
            <a:ext cx="9038629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Terima Kasih! Sesi Tanya Jawab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00462"/>
            <a:ext cx="7143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Plus Jakarta Sans"/>
              </a:rPr>
              <a:t>Siap untuk mempraktikkan query SQL dan menghubungkannya dengan proyek PHP &amp; Laravel Anda?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80394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1100" y="1028700"/>
            <a:ext cx="292536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6475" y="1765845"/>
            <a:ext cx="882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https://planetscale.com/assets-2024/blog/content/schema-design-101-relational-databases/a2906fd68b050d7f9e0714c7d566990efd645005-1953x1576.png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6475" y="2118270"/>
            <a:ext cx="228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planetscale.com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